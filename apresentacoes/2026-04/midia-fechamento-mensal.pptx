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22376" cy="7562088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4" name="Text 2"/>
          <p:cNvSpPr/>
          <p:nvPr/>
        </p:nvSpPr>
        <p:spPr>
          <a:xfrm rot="16200000">
            <a:off x="-3419856" y="3419856"/>
            <a:ext cx="756208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mkt growth    </a:t>
            </a:r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    </a:t>
            </a:r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444752" y="914400"/>
            <a:ext cx="8522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 Book Digital ]  ·  Fechamento mensal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444752" y="1463040"/>
            <a:ext cx="852220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leitura criativa :: abril 2026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444752" y="3520440"/>
            <a:ext cx="1280160" cy="365760"/>
          </a:xfrm>
          <a:prstGeom prst="rect">
            <a:avLst/>
          </a:prstGeom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44752" y="3520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44752" y="6903720"/>
            <a:ext cx="8522208" cy="1097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0" name="Text 8"/>
          <p:cNvSpPr/>
          <p:nvPr/>
        </p:nvSpPr>
        <p:spPr>
          <a:xfrm>
            <a:off x="1444752" y="7031736"/>
            <a:ext cx="4261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Zerezes · mkt growth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05856" y="7031736"/>
            <a:ext cx="42611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spc="200" kern="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 — 28 abril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2376" cy="75620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3419856" y="3419856"/>
            <a:ext cx="756208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mkt growth    </a:t>
            </a:r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    </a:t>
            </a:r>
            <a:pPr algn="ctr" indent="0" marL="0">
              <a:buNone/>
            </a:pPr>
            <a:r>
              <a:rPr lang="en-US" sz="95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298448" y="786384"/>
            <a:ext cx="8668512" cy="1097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5029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755648" y="502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15768" y="502920"/>
            <a:ext cx="7251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C6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Zerezes · mídia · 01 — 28 abril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98448" y="914400"/>
            <a:ext cx="8668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agenda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298448" y="1673352"/>
            <a:ext cx="45720" cy="2688336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10" name="Shape 8"/>
          <p:cNvSpPr/>
          <p:nvPr/>
        </p:nvSpPr>
        <p:spPr>
          <a:xfrm>
            <a:off x="1344168" y="1673352"/>
            <a:ext cx="2734056" cy="26883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1" name="Text 9"/>
          <p:cNvSpPr/>
          <p:nvPr/>
        </p:nvSpPr>
        <p:spPr>
          <a:xfrm>
            <a:off x="1435608" y="1764792"/>
            <a:ext cx="25511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35608" y="2020824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KPIs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35608" y="2542032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números-chave do mês na disciplina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42816" y="1673352"/>
            <a:ext cx="45720" cy="2688336"/>
          </a:xfrm>
          <a:prstGeom prst="rect">
            <a:avLst/>
          </a:prstGeom>
          <a:solidFill>
            <a:srgbClr val="5F8DB5"/>
          </a:solidFill>
          <a:ln/>
        </p:spPr>
      </p:sp>
      <p:sp>
        <p:nvSpPr>
          <p:cNvPr id="15" name="Shape 13"/>
          <p:cNvSpPr/>
          <p:nvPr/>
        </p:nvSpPr>
        <p:spPr>
          <a:xfrm>
            <a:off x="4288536" y="1673352"/>
            <a:ext cx="2734056" cy="26883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Text 14"/>
          <p:cNvSpPr/>
          <p:nvPr/>
        </p:nvSpPr>
        <p:spPr>
          <a:xfrm>
            <a:off x="4379976" y="1764792"/>
            <a:ext cx="25511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79976" y="2020824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Destaques Positivos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79976" y="2542032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peças que funcionaram, por linha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187184" y="1673352"/>
            <a:ext cx="45720" cy="2688336"/>
          </a:xfrm>
          <a:prstGeom prst="rect">
            <a:avLst/>
          </a:prstGeom>
          <a:solidFill>
            <a:srgbClr val="5F8DB5"/>
          </a:solidFill>
          <a:ln/>
        </p:spPr>
      </p:sp>
      <p:sp>
        <p:nvSpPr>
          <p:cNvPr id="20" name="Shape 18"/>
          <p:cNvSpPr/>
          <p:nvPr/>
        </p:nvSpPr>
        <p:spPr>
          <a:xfrm>
            <a:off x="7232904" y="1673352"/>
            <a:ext cx="2734056" cy="26883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/>
          <p:nvPr/>
        </p:nvSpPr>
        <p:spPr>
          <a:xfrm>
            <a:off x="7324344" y="1764792"/>
            <a:ext cx="25511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24344" y="2020824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Destaques Negativos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24344" y="2542032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que não performou + buracos de cobertura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298448" y="4453128"/>
            <a:ext cx="45720" cy="2688336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25" name="Shape 23"/>
          <p:cNvSpPr/>
          <p:nvPr/>
        </p:nvSpPr>
        <p:spPr>
          <a:xfrm>
            <a:off x="1344168" y="4453128"/>
            <a:ext cx="2734056" cy="26883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/>
          <p:nvPr/>
        </p:nvSpPr>
        <p:spPr>
          <a:xfrm>
            <a:off x="1435608" y="4544568"/>
            <a:ext cx="25511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435608" y="4800600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Benchmarks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35608" y="5321808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leitura do mercado em 01 — 28 abril 2026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242816" y="4453128"/>
            <a:ext cx="45720" cy="2688336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30" name="Shape 28"/>
          <p:cNvSpPr/>
          <p:nvPr/>
        </p:nvSpPr>
        <p:spPr>
          <a:xfrm>
            <a:off x="4288536" y="4453128"/>
            <a:ext cx="2734056" cy="268833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/>
          <p:nvPr/>
        </p:nvSpPr>
        <p:spPr>
          <a:xfrm>
            <a:off x="4379976" y="4544568"/>
            <a:ext cx="25511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79976" y="4800600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Oportunidades &amp; Testes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79976" y="5321808"/>
            <a:ext cx="2551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apostas para maio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2376" cy="75620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3419856" y="3419856"/>
            <a:ext cx="756208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mkt growth    </a:t>
            </a:r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    </a:t>
            </a:r>
            <a:pPr algn="ctr" indent="0" marL="0">
              <a:buNone/>
            </a:pPr>
            <a:r>
              <a:rPr lang="en-US" sz="95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298448" y="786384"/>
            <a:ext cx="8668512" cy="1097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5029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755648" y="502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15768" y="502920"/>
            <a:ext cx="7251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C6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Zerezes · mídia · 01 — 28 abril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98448" y="914400"/>
            <a:ext cx="8668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kpis :: mídia abril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1188720"/>
            <a:ext cx="8668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os números do mês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98448" y="1801368"/>
            <a:ext cx="8668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abril de 2026 fechou com 23,5M impressões e CTR médio de 0,88% — o primeiro mês cheio de grau 26 no ar. o carrossel de coleção virou cavalo de batalha; o vídeo genérico de abril escalou; Rodrigo Bez fez 6,6M de impressões sozinho no alcance; e a 2ª quinzena trouxe Alice Fleury em vídeo, uma campanha de reativação de inativos, MASP e FARM escalando, e AON Sports surpreendendo com o maior CTR da conta.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298448" y="2423160"/>
            <a:ext cx="1631290" cy="50292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12" name="Shape 10"/>
          <p:cNvSpPr/>
          <p:nvPr/>
        </p:nvSpPr>
        <p:spPr>
          <a:xfrm>
            <a:off x="1298448" y="2473452"/>
            <a:ext cx="1631290" cy="474116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08176" y="2606040"/>
            <a:ext cx="141183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impressões totais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08176" y="2916936"/>
            <a:ext cx="141183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23,5M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08176" y="3593592"/>
            <a:ext cx="1411834" cy="3465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mês todo (01–28)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057754" y="2423160"/>
            <a:ext cx="1631290" cy="50292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17" name="Shape 15"/>
          <p:cNvSpPr/>
          <p:nvPr/>
        </p:nvSpPr>
        <p:spPr>
          <a:xfrm>
            <a:off x="3057754" y="2473452"/>
            <a:ext cx="1631290" cy="474116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67482" y="2606040"/>
            <a:ext cx="141183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CTR médio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167482" y="2916936"/>
            <a:ext cx="141183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0,88%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167482" y="3593592"/>
            <a:ext cx="1411834" cy="3465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média ponderada da conta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17059" y="2423160"/>
            <a:ext cx="1631290" cy="50292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22" name="Shape 20"/>
          <p:cNvSpPr/>
          <p:nvPr/>
        </p:nvSpPr>
        <p:spPr>
          <a:xfrm>
            <a:off x="4817059" y="2473452"/>
            <a:ext cx="1631290" cy="474116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6787" y="2606040"/>
            <a:ext cx="141183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topo de funil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926787" y="2916936"/>
            <a:ext cx="141183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6,6M impressões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926787" y="3593592"/>
            <a:ext cx="1411834" cy="3465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Rodrigo Bez sozinho — dominante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76365" y="2423160"/>
            <a:ext cx="1631290" cy="50292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27" name="Shape 25"/>
          <p:cNvSpPr/>
          <p:nvPr/>
        </p:nvSpPr>
        <p:spPr>
          <a:xfrm>
            <a:off x="6576365" y="2473452"/>
            <a:ext cx="1631290" cy="474116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86093" y="2606040"/>
            <a:ext cx="141183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maior CTR da conta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686093" y="2916936"/>
            <a:ext cx="141183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1,79%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686093" y="3593592"/>
            <a:ext cx="1411834" cy="3465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AON Sports — carrossel 020326 em scaling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335670" y="2423160"/>
            <a:ext cx="1631290" cy="50292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32" name="Shape 30"/>
          <p:cNvSpPr/>
          <p:nvPr/>
        </p:nvSpPr>
        <p:spPr>
          <a:xfrm>
            <a:off x="8335670" y="2473452"/>
            <a:ext cx="1631290" cy="474116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45398" y="2606040"/>
            <a:ext cx="141183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copy de melhor performance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445398" y="2916936"/>
            <a:ext cx="141183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"de volta à realidade"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445398" y="3593592"/>
            <a:ext cx="1411834" cy="3465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CTR 1,23–1,33% sustentado pelo mês todo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2376" cy="75620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3419856" y="3419856"/>
            <a:ext cx="756208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mkt growth    </a:t>
            </a:r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    </a:t>
            </a:r>
            <a:pPr algn="ctr" indent="0" marL="0">
              <a:buNone/>
            </a:pPr>
            <a:r>
              <a:rPr lang="en-US" sz="95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298448" y="786384"/>
            <a:ext cx="8668512" cy="1097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5029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755648" y="502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15768" y="502920"/>
            <a:ext cx="7251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C6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Zerezes · mídia · 01 — 28 abril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98448" y="914400"/>
            <a:ext cx="8668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destaques positivos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1188720"/>
            <a:ext cx="8668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Grau26 — meio de funil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98448" y="1801368"/>
            <a:ext cx="4261104" cy="50292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11" name="Shape 9"/>
          <p:cNvSpPr/>
          <p:nvPr/>
        </p:nvSpPr>
        <p:spPr>
          <a:xfrm>
            <a:off x="1298448" y="1851660"/>
            <a:ext cx="4261104" cy="5362956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6464" y="193852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carrossel_coleção_generico_160325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26464" y="235000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CTR 1,38% · holding · top asset da conta · múltiplos adsets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26464" y="27340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pontos de destaque: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26464" y="2953512"/>
            <a:ext cx="400507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vitrine de produtos como hook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copy "de volta à realidade" sustentou performance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asset mais resistente da conta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05856" y="1801368"/>
            <a:ext cx="4261104" cy="50292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17" name="Shape 15"/>
          <p:cNvSpPr/>
          <p:nvPr/>
        </p:nvSpPr>
        <p:spPr>
          <a:xfrm>
            <a:off x="5705856" y="1851660"/>
            <a:ext cx="4261104" cy="5362956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193852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imagem_coleção_generico_160325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33872" y="235000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CTR 1,33% · declining mas com sinal forte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33872" y="27340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pontos de destaque: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833872" y="2953512"/>
            <a:ext cx="400507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copy editorial "16 modelos"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ângulo produto still simples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replicar copy nas demais linhas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2376" cy="75620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3419856" y="3419856"/>
            <a:ext cx="756208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mkt growth    </a:t>
            </a:r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    </a:t>
            </a:r>
            <a:pPr algn="ctr" indent="0" marL="0">
              <a:buNone/>
            </a:pPr>
            <a:r>
              <a:rPr lang="en-US" sz="95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298448" y="786384"/>
            <a:ext cx="8668512" cy="1097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5029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755648" y="502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15768" y="502920"/>
            <a:ext cx="7251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C6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Zerezes · mídia · 01 — 28 abril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98448" y="914400"/>
            <a:ext cx="8668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destaques positivos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1188720"/>
            <a:ext cx="8668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Grau26 — topo de funil (creators)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98448" y="1801368"/>
            <a:ext cx="4261104" cy="50292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11" name="Shape 9"/>
          <p:cNvSpPr/>
          <p:nvPr/>
        </p:nvSpPr>
        <p:spPr>
          <a:xfrm>
            <a:off x="1298448" y="1851660"/>
            <a:ext cx="4261104" cy="5362956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6464" y="193852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Rodrigo Bez — vídeo 090426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26464" y="235000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6,6M impressões no mês · holding · líder absoluto em alcance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26464" y="27340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pontos de destaque: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26464" y="2953512"/>
            <a:ext cx="400507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rosto + movimento como hook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cluster boy zerezes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volume permite testar costura completa creator → carrossel → catálogo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05856" y="1801368"/>
            <a:ext cx="4261104" cy="50292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17" name="Shape 15"/>
          <p:cNvSpPr/>
          <p:nvPr/>
        </p:nvSpPr>
        <p:spPr>
          <a:xfrm>
            <a:off x="5705856" y="1851660"/>
            <a:ext cx="4261104" cy="5362956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193852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Alice Fleury — vídeo 160426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33872" y="235000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CTR 0,11% · novo · em fase de entrada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33872" y="27340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pontos de destaque: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833872" y="2953512"/>
            <a:ext cx="400507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fashion girlie cluster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rosto + vídeo nativo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ainda em testing — observar 2ª semana de maio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2376" cy="75620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3419856" y="3419856"/>
            <a:ext cx="756208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mkt growth    </a:t>
            </a:r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    </a:t>
            </a:r>
            <a:pPr algn="ctr" indent="0" marL="0">
              <a:buNone/>
            </a:pPr>
            <a:r>
              <a:rPr lang="en-US" sz="95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298448" y="786384"/>
            <a:ext cx="8668512" cy="1097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5029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755648" y="502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15768" y="502920"/>
            <a:ext cx="7251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C6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Zerezes · mídia · 01 — 28 abril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98448" y="914400"/>
            <a:ext cx="8668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destaques positivos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1188720"/>
            <a:ext cx="8668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AON Sports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98448" y="1801368"/>
            <a:ext cx="8668512" cy="50292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11" name="Shape 9"/>
          <p:cNvSpPr/>
          <p:nvPr/>
        </p:nvSpPr>
        <p:spPr>
          <a:xfrm>
            <a:off x="1298448" y="1851660"/>
            <a:ext cx="8668512" cy="5362956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6464" y="193852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carrossel sports 020326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26464" y="2350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CTR 1,79% · scaling · maior CTR da conta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26464" y="273405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pontos de destaque: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26464" y="2953512"/>
            <a:ext cx="8412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território aberto no BR — ninguém faz esporte com olhar editorial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sinal forte para escalar produção em maio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collab The Simple Gym entra como alavanca fim-abril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2376" cy="75620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3419856" y="3419856"/>
            <a:ext cx="756208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mkt growth    </a:t>
            </a:r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    </a:t>
            </a:r>
            <a:pPr algn="ctr" indent="0" marL="0">
              <a:buNone/>
            </a:pPr>
            <a:r>
              <a:rPr lang="en-US" sz="95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298448" y="786384"/>
            <a:ext cx="8668512" cy="1097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5029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755648" y="502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15768" y="502920"/>
            <a:ext cx="7251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C6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Zerezes · mídia · 01 — 28 abril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98448" y="914400"/>
            <a:ext cx="8668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destaques positivos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1188720"/>
            <a:ext cx="8668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Grau26 — fundo de funil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98448" y="1801368"/>
            <a:ext cx="4261104" cy="50292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11" name="Shape 9"/>
          <p:cNvSpPr/>
          <p:nvPr/>
        </p:nvSpPr>
        <p:spPr>
          <a:xfrm>
            <a:off x="1298448" y="1851660"/>
            <a:ext cx="4261104" cy="5362956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6464" y="193852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catálogo dinâmico LançamentoGrau26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26464" y="235000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maior alcance da conta · trabalho silencioso de fechamento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26464" y="27340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pontos de destaque: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26464" y="2953512"/>
            <a:ext cx="400507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hook produto + preço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ângulo funcional sem narrativa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ancora de conversão estável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05856" y="1801368"/>
            <a:ext cx="4261104" cy="50292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17" name="Shape 15"/>
          <p:cNvSpPr/>
          <p:nvPr/>
        </p:nvSpPr>
        <p:spPr>
          <a:xfrm>
            <a:off x="5705856" y="1851660"/>
            <a:ext cx="4261104" cy="5362956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193852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trio inativos 280426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33872" y="235000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imagem + vídeo + carrossel · campanha reconhecimento/purchaseonly entrou 28/04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33872" y="27340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pontos de destaque: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833872" y="2953512"/>
            <a:ext cx="400507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reativação de quem comprou e ficou inativo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mesma coleção em 3 formatos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sinal de maturidade da conta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2376" cy="75620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3419856" y="3419856"/>
            <a:ext cx="756208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mkt growth    </a:t>
            </a:r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    </a:t>
            </a:r>
            <a:pPr algn="ctr" indent="0" marL="0">
              <a:buNone/>
            </a:pPr>
            <a:r>
              <a:rPr lang="en-US" sz="95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298448" y="786384"/>
            <a:ext cx="8668512" cy="1097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5029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755648" y="502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15768" y="502920"/>
            <a:ext cx="7251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C6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Zerezes · mídia · 01 — 28 abril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98448" y="914400"/>
            <a:ext cx="8668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destaques positivos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1188720"/>
            <a:ext cx="8668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Outras frentes (escalando)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98448" y="1801368"/>
            <a:ext cx="4261104" cy="50292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11" name="Shape 9"/>
          <p:cNvSpPr/>
          <p:nvPr/>
        </p:nvSpPr>
        <p:spPr>
          <a:xfrm>
            <a:off x="1298448" y="1851660"/>
            <a:ext cx="4261104" cy="5362956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6464" y="193852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Collab MASP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26464" y="235000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 scaling · território editorial rico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26464" y="27340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pontos de destaque: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26464" y="2953512"/>
            <a:ext cx="400507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candidato a leitura dedicada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subutilizado em mídia paga até abril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05856" y="1801368"/>
            <a:ext cx="4261104" cy="50292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17" name="Shape 15"/>
          <p:cNvSpPr/>
          <p:nvPr/>
        </p:nvSpPr>
        <p:spPr>
          <a:xfrm>
            <a:off x="5705856" y="1851660"/>
            <a:ext cx="4261104" cy="5362956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193852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Collab FARM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33872" y="235000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 scaling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33872" y="27340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pontos de destaque: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833872" y="2953512"/>
            <a:ext cx="400507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mesma tese editorial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volume baixo mas consistente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2376" cy="75620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3419856" y="3419856"/>
            <a:ext cx="756208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mkt growth    </a:t>
            </a:r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    </a:t>
            </a:r>
            <a:pPr algn="ctr" indent="0" marL="0">
              <a:buNone/>
            </a:pPr>
            <a:r>
              <a:rPr lang="en-US" sz="95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298448" y="786384"/>
            <a:ext cx="8668512" cy="1097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5029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755648" y="502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15768" y="502920"/>
            <a:ext cx="7251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C6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Zerezes · mídia · 01 — 28 abril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98448" y="914400"/>
            <a:ext cx="8668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destaques negativos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1188720"/>
            <a:ext cx="8668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Grau26 — meio de funil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98448" y="1801368"/>
            <a:ext cx="4261104" cy="50292"/>
          </a:xfrm>
          <a:prstGeom prst="rect">
            <a:avLst/>
          </a:prstGeom>
          <a:solidFill>
            <a:srgbClr val="5F8DB5"/>
          </a:solidFill>
          <a:ln/>
        </p:spPr>
      </p:sp>
      <p:sp>
        <p:nvSpPr>
          <p:cNvPr id="11" name="Shape 9"/>
          <p:cNvSpPr/>
          <p:nvPr/>
        </p:nvSpPr>
        <p:spPr>
          <a:xfrm>
            <a:off x="1298448" y="1851660"/>
            <a:ext cx="4261104" cy="5362956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6464" y="193852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video_coleção_generico_090426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26464" y="235000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CTR 0,28% · hidden/declining · 2 adsets · maior vídeo da conta em volume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26464" y="27340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pontos de atenção: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26464" y="2953512"/>
            <a:ext cx="400507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volume alto mas CTR fraco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abertura de coleção como hook não engajou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considerar nova edição com headline editorial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05856" y="1801368"/>
            <a:ext cx="4261104" cy="50292"/>
          </a:xfrm>
          <a:prstGeom prst="rect">
            <a:avLst/>
          </a:prstGeom>
          <a:solidFill>
            <a:srgbClr val="5F8DB5"/>
          </a:solidFill>
          <a:ln/>
        </p:spPr>
      </p:sp>
      <p:sp>
        <p:nvSpPr>
          <p:cNvPr id="17" name="Shape 15"/>
          <p:cNvSpPr/>
          <p:nvPr/>
        </p:nvSpPr>
        <p:spPr>
          <a:xfrm>
            <a:off x="5705856" y="1851660"/>
            <a:ext cx="4261104" cy="5362956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193852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video_coleção_generico_260326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33872" y="235000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CTR 0,21% · hidden · primeira rodada de vídeo prospec.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33872" y="27340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pontos de atenção: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833872" y="2953512"/>
            <a:ext cx="400507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mesmo padrão do 090426 em escala menor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formato vídeo de coleção precisa repensar hook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2376" cy="75620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3419856" y="3419856"/>
            <a:ext cx="756208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mkt growth    </a:t>
            </a:r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    </a:t>
            </a:r>
            <a:pPr algn="ctr" indent="0" marL="0">
              <a:buNone/>
            </a:pPr>
            <a:r>
              <a:rPr lang="en-US" sz="95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298448" y="786384"/>
            <a:ext cx="8668512" cy="1097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5029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755648" y="502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15768" y="502920"/>
            <a:ext cx="7251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C6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Zerezes · mídia · 01 — 28 abril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98448" y="914400"/>
            <a:ext cx="8668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destaques negativos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1188720"/>
            <a:ext cx="8668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Grau26 — topo de funil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98448" y="1801368"/>
            <a:ext cx="8668512" cy="50292"/>
          </a:xfrm>
          <a:prstGeom prst="rect">
            <a:avLst/>
          </a:prstGeom>
          <a:solidFill>
            <a:srgbClr val="5F8DB5"/>
          </a:solidFill>
          <a:ln/>
        </p:spPr>
      </p:sp>
      <p:sp>
        <p:nvSpPr>
          <p:cNvPr id="11" name="Shape 9"/>
          <p:cNvSpPr/>
          <p:nvPr/>
        </p:nvSpPr>
        <p:spPr>
          <a:xfrm>
            <a:off x="1298448" y="1851660"/>
            <a:ext cx="8668512" cy="5362956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6464" y="193852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Rafaela Amorim — vídeo coleção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26464" y="2350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CTR 0,06% · testing · volume baixo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26464" y="273405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pontos de atenção: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26464" y="2953512"/>
            <a:ext cx="8412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rosto + produto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cluster fashion girlie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decidir em maio: aprofundar ou descartar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2376" cy="75620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3419856" y="3419856"/>
            <a:ext cx="756208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mkt growth    </a:t>
            </a:r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    </a:t>
            </a:r>
            <a:pPr algn="ctr" indent="0" marL="0">
              <a:buNone/>
            </a:pPr>
            <a:r>
              <a:rPr lang="en-US" sz="95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298448" y="786384"/>
            <a:ext cx="8668512" cy="1097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5029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755648" y="502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15768" y="502920"/>
            <a:ext cx="7251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C6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Zerezes · mídia · 01 — 28 abril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98448" y="914400"/>
            <a:ext cx="8668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destaques negativos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1188720"/>
            <a:ext cx="8668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Cobertura criativa — buracos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98448" y="1801368"/>
            <a:ext cx="4261104" cy="50292"/>
          </a:xfrm>
          <a:prstGeom prst="rect">
            <a:avLst/>
          </a:prstGeom>
          <a:solidFill>
            <a:srgbClr val="5F8DB5"/>
          </a:solidFill>
          <a:ln/>
        </p:spPr>
      </p:sp>
      <p:sp>
        <p:nvSpPr>
          <p:cNvPr id="11" name="Shape 9"/>
          <p:cNvSpPr/>
          <p:nvPr/>
        </p:nvSpPr>
        <p:spPr>
          <a:xfrm>
            <a:off x="1298448" y="1851660"/>
            <a:ext cx="4261104" cy="5362956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6464" y="193852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cluster Statement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26464" y="235000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sem cobertura em meio e fundo de funil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26464" y="27340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pontos de atenção: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26464" y="2953512"/>
            <a:ext cx="400507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oportunidade clara para o studio em maio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05856" y="1801368"/>
            <a:ext cx="4261104" cy="50292"/>
          </a:xfrm>
          <a:prstGeom prst="rect">
            <a:avLst/>
          </a:prstGeom>
          <a:solidFill>
            <a:srgbClr val="5F8DB5"/>
          </a:solidFill>
          <a:ln/>
        </p:spPr>
      </p:sp>
      <p:sp>
        <p:nvSpPr>
          <p:cNvPr id="17" name="Shape 15"/>
          <p:cNvSpPr/>
          <p:nvPr/>
        </p:nvSpPr>
        <p:spPr>
          <a:xfrm>
            <a:off x="5705856" y="1851660"/>
            <a:ext cx="4261104" cy="5362956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193852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cluster Oversized/Vanguarda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33872" y="235000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sem cobertura no funil completo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33872" y="27340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pontos de atenção: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833872" y="2953512"/>
            <a:ext cx="400507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aposta natural depois dos primeiros nomes literários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113264" y="1801368"/>
            <a:ext cx="4261104" cy="50292"/>
          </a:xfrm>
          <a:prstGeom prst="rect">
            <a:avLst/>
          </a:prstGeom>
          <a:solidFill>
            <a:srgbClr val="5F8DB5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13264" y="1851660"/>
            <a:ext cx="4261104" cy="5362956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0" y="193852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 nomes literários como criativos individuais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241280" y="235000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material existe (briefing), ainda não foi pro feed pago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241280" y="27340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pontos de atenção: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241280" y="2953512"/>
            <a:ext cx="4005072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lena, jig, keí, lusti — primeiros candidatos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"prazer, [nome]" como mecânica testável em maio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2376" cy="75620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3419856" y="3419856"/>
            <a:ext cx="756208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mkt growth    </a:t>
            </a:r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    </a:t>
            </a:r>
            <a:pPr algn="ctr" indent="0" marL="0">
              <a:buNone/>
            </a:pPr>
            <a:r>
              <a:rPr lang="en-US" sz="95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298448" y="786384"/>
            <a:ext cx="8668512" cy="1097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5029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755648" y="502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15768" y="502920"/>
            <a:ext cx="7251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C6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Zerezes · mídia · 01 — 28 abril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98448" y="914400"/>
            <a:ext cx="8668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destaques negativos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1188720"/>
            <a:ext cx="8668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Retargeting — uso uniforme do criativo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98448" y="1801368"/>
            <a:ext cx="8668512" cy="50292"/>
          </a:xfrm>
          <a:prstGeom prst="rect">
            <a:avLst/>
          </a:prstGeom>
          <a:solidFill>
            <a:srgbClr val="5F8DB5"/>
          </a:solidFill>
          <a:ln/>
        </p:spPr>
      </p:sp>
      <p:sp>
        <p:nvSpPr>
          <p:cNvPr id="11" name="Shape 9"/>
          <p:cNvSpPr/>
          <p:nvPr/>
        </p:nvSpPr>
        <p:spPr>
          <a:xfrm>
            <a:off x="1298448" y="1851660"/>
            <a:ext cx="8668512" cy="5362956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6464" y="193852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clusters comportamentais (HPB, LTV, LTVSEED, SEED)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26464" y="2350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rodam o mesmo criativo — sem variação por cluster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26464" y="273405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pontos de atenção: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26464" y="2953512"/>
            <a:ext cx="8412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cliente alto valor vê o mesmo que seed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· oportunidade de variação por cluster em maio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2376" cy="75620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3419856" y="3419856"/>
            <a:ext cx="756208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mkt growth    </a:t>
            </a:r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    </a:t>
            </a:r>
            <a:pPr algn="ctr" indent="0" marL="0">
              <a:buNone/>
            </a:pPr>
            <a:r>
              <a:rPr lang="en-US" sz="95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298448" y="786384"/>
            <a:ext cx="8668512" cy="1097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5029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755648" y="502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15768" y="502920"/>
            <a:ext cx="7251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C6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Zerezes · mídia · 01 — 28 abril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98448" y="914400"/>
            <a:ext cx="8668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benchmarks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1188720"/>
            <a:ext cx="8668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que o mercado fez em abril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98448" y="1801368"/>
            <a:ext cx="50292" cy="2660904"/>
          </a:xfrm>
          <a:prstGeom prst="rect">
            <a:avLst/>
          </a:prstGeom>
          <a:solidFill>
            <a:srgbClr val="5F8DB5"/>
          </a:solidFill>
          <a:ln/>
        </p:spPr>
      </p:sp>
      <p:sp>
        <p:nvSpPr>
          <p:cNvPr id="11" name="Shape 9"/>
          <p:cNvSpPr/>
          <p:nvPr/>
        </p:nvSpPr>
        <p:spPr>
          <a:xfrm>
            <a:off x="1348740" y="1801368"/>
            <a:ext cx="2753868" cy="266090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81328" y="1892808"/>
            <a:ext cx="2484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[Warby Parker]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481328" y="2185416"/>
            <a:ext cx="2484120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lançou Summer 2026 + linha Sport ("prescription-ready, made for movement") + repechagem do frame Ketty. cada armação é personagem com headline e landing próprios. estrutura editorial do que a Grau26 promete.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30624" y="1801368"/>
            <a:ext cx="50292" cy="2660904"/>
          </a:xfrm>
          <a:prstGeom prst="rect">
            <a:avLst/>
          </a:prstGeom>
          <a:solidFill>
            <a:srgbClr val="5F8DB5"/>
          </a:solidFill>
          <a:ln/>
        </p:spPr>
      </p:sp>
      <p:sp>
        <p:nvSpPr>
          <p:cNvPr id="15" name="Shape 13"/>
          <p:cNvSpPr/>
          <p:nvPr/>
        </p:nvSpPr>
        <p:spPr>
          <a:xfrm>
            <a:off x="4280916" y="1801368"/>
            <a:ext cx="2753868" cy="266090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13504" y="1892808"/>
            <a:ext cx="2484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[Oakley]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13504" y="2185416"/>
            <a:ext cx="2484120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aposta dupla: Oakley Meta smart glasses (IA + colorways) e Transitions (lentes fotocromáticas, ad em 29/04). pura funcionalidade e tech — referência de template visual com produto em detalhe + copy funcional curta.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162800" y="1801368"/>
            <a:ext cx="50292" cy="2660904"/>
          </a:xfrm>
          <a:prstGeom prst="rect">
            <a:avLst/>
          </a:prstGeom>
          <a:solidFill>
            <a:srgbClr val="5F8DB5"/>
          </a:solidFill>
          <a:ln/>
        </p:spPr>
      </p:sp>
      <p:sp>
        <p:nvSpPr>
          <p:cNvPr id="19" name="Shape 17"/>
          <p:cNvSpPr/>
          <p:nvPr/>
        </p:nvSpPr>
        <p:spPr>
          <a:xfrm>
            <a:off x="7213092" y="1801368"/>
            <a:ext cx="2753868" cy="266090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45680" y="1892808"/>
            <a:ext cx="2484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[Ace &amp; Tate]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45680" y="2185416"/>
            <a:ext cx="2484120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campanha "90s edit" com headline "get in bed with glasses". também roda booking de exame de vista com vídeos nativos. é a marca que mais conversa com o público da Grau26 em tom.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298448" y="4553712"/>
            <a:ext cx="50292" cy="2660904"/>
          </a:xfrm>
          <a:prstGeom prst="rect">
            <a:avLst/>
          </a:prstGeom>
          <a:solidFill>
            <a:srgbClr val="5F8DB5"/>
          </a:solidFill>
          <a:ln/>
        </p:spPr>
      </p:sp>
      <p:sp>
        <p:nvSpPr>
          <p:cNvPr id="23" name="Shape 21"/>
          <p:cNvSpPr/>
          <p:nvPr/>
        </p:nvSpPr>
        <p:spPr>
          <a:xfrm>
            <a:off x="1348740" y="4553712"/>
            <a:ext cx="2753868" cy="266090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81328" y="4645152"/>
            <a:ext cx="2484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[Chilli Beans]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4937760"/>
            <a:ext cx="2484120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sustenta presença mas saiu do produto em mídia paga — foco em franquia/marca. baixa leitura útil este mês. monitorar.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30624" y="4553712"/>
            <a:ext cx="50292" cy="2660904"/>
          </a:xfrm>
          <a:prstGeom prst="rect">
            <a:avLst/>
          </a:prstGeom>
          <a:solidFill>
            <a:srgbClr val="5F8DB5"/>
          </a:solidFill>
          <a:ln/>
        </p:spPr>
      </p:sp>
      <p:sp>
        <p:nvSpPr>
          <p:cNvPr id="27" name="Shape 25"/>
          <p:cNvSpPr/>
          <p:nvPr/>
        </p:nvSpPr>
        <p:spPr>
          <a:xfrm>
            <a:off x="4280916" y="4553712"/>
            <a:ext cx="2753868" cy="266090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13504" y="4645152"/>
            <a:ext cx="2484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[LIVO]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413504" y="4937760"/>
            <a:ext cx="2484120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pivotou para lentes de contato e franquias. quase ausente no território de óculos de grau em abril. observar maio se volta ou consolida pivô.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62800" y="4553712"/>
            <a:ext cx="50292" cy="2660904"/>
          </a:xfrm>
          <a:prstGeom prst="rect">
            <a:avLst/>
          </a:prstGeom>
          <a:solidFill>
            <a:srgbClr val="5F8DB5"/>
          </a:solidFill>
          <a:ln/>
        </p:spPr>
      </p:sp>
      <p:sp>
        <p:nvSpPr>
          <p:cNvPr id="31" name="Shape 29"/>
          <p:cNvSpPr/>
          <p:nvPr/>
        </p:nvSpPr>
        <p:spPr>
          <a:xfrm>
            <a:off x="7213092" y="4553712"/>
            <a:ext cx="2753868" cy="2660904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45680" y="4645152"/>
            <a:ext cx="2484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[Óticas Carol]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345680" y="4937760"/>
            <a:ext cx="2484120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leitura funcional/preço — mantém como contraste do que NÃO fazer no copy editorial. mass-market puro.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2376" cy="75620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3419856" y="3419856"/>
            <a:ext cx="756208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mkt growth    </a:t>
            </a:r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    </a:t>
            </a:r>
            <a:pPr algn="ctr" indent="0" marL="0">
              <a:buNone/>
            </a:pPr>
            <a:r>
              <a:rPr lang="en-US" sz="95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298448" y="786384"/>
            <a:ext cx="8668512" cy="1097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5029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755648" y="502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15768" y="502920"/>
            <a:ext cx="7251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C6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Zerezes · mídia · 01 — 28 abril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98448" y="914400"/>
            <a:ext cx="8668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oportunidades &amp; testes · parte 1/2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1188720"/>
            <a:ext cx="8668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 apostas para maio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98448" y="1801368"/>
            <a:ext cx="8668512" cy="1024128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08176" y="1874520"/>
            <a:ext cx="914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[Maio]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77440" y="1892808"/>
            <a:ext cx="10973" cy="84124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1874520"/>
            <a:ext cx="7351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estender "de volta à realidade" para Grau, Solar e Sports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87168" y="2167128"/>
            <a:ext cx="735177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manter a estrutura, criar variações por linha. sucesso = CTR ≥ 1,2% em pelo menos 2 das 3 linhas.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298448" y="2898648"/>
            <a:ext cx="8668512" cy="1024128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08176" y="2971800"/>
            <a:ext cx="914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[Maio]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377440" y="2990088"/>
            <a:ext cx="10973" cy="84124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8" name="Text 16"/>
          <p:cNvSpPr/>
          <p:nvPr/>
        </p:nvSpPr>
        <p:spPr>
          <a:xfrm>
            <a:off x="2487168" y="2971800"/>
            <a:ext cx="7351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primeiros criativos individuais com nomes literários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87168" y="3264408"/>
            <a:ext cx="735177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"prazer, lena" / "prazer, keí" como peças isoladas em meio de funil. sucesso = qualquer um dos 4 nomes superando o carrossel 160325 em CTR por 7+ dias.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298448" y="3995928"/>
            <a:ext cx="8668512" cy="1024128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08176" y="4069080"/>
            <a:ext cx="914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[Maio]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377440" y="4087368"/>
            <a:ext cx="10973" cy="84124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Text 21"/>
          <p:cNvSpPr/>
          <p:nvPr/>
        </p:nvSpPr>
        <p:spPr>
          <a:xfrm>
            <a:off x="2487168" y="4069080"/>
            <a:ext cx="7351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costura completa creator → carrossel → catálogo (Rodrigo Bez)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87168" y="4361688"/>
            <a:ext cx="735177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primeira jornada narrativa com um único creator como fio condutor. sucesso = CPA do cluster que viu o vídeo do Rodrigo &lt; CPA do cluster controle.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298448" y="5093208"/>
            <a:ext cx="8668512" cy="1024128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08176" y="5166360"/>
            <a:ext cx="914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[Maio]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377440" y="5184648"/>
            <a:ext cx="10973" cy="84124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8" name="Text 26"/>
          <p:cNvSpPr/>
          <p:nvPr/>
        </p:nvSpPr>
        <p:spPr>
          <a:xfrm>
            <a:off x="2487168" y="5166360"/>
            <a:ext cx="7351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AON Solar com tom Grau26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87168" y="5458968"/>
            <a:ext cx="735177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primeiro lookbook Solar como capítulo editorial. referência: Warby Summer 2026. sucesso = CTR Solar ≥ média Grau26 em meio de funil.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298448" y="6190488"/>
            <a:ext cx="8668512" cy="1024128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08176" y="6263640"/>
            <a:ext cx="9144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[Maio 14–31]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377440" y="6281928"/>
            <a:ext cx="10973" cy="84124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3" name="Text 31"/>
          <p:cNvSpPr/>
          <p:nvPr/>
        </p:nvSpPr>
        <p:spPr>
          <a:xfrm>
            <a:off x="2487168" y="6263640"/>
            <a:ext cx="7351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clássicos novas cores como micro-evento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87168" y="6556248"/>
            <a:ext cx="7351776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headline curta, foco em colorway, sem promoção. sucesso = consideração (saved/share/comment) acima da média de meio Grau26.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2376" cy="75620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-3419856" y="3419856"/>
            <a:ext cx="756208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mkt growth    </a:t>
            </a:r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    </a:t>
            </a:r>
            <a:pPr algn="ctr" indent="0" marL="0">
              <a:buNone/>
            </a:pPr>
            <a:r>
              <a:rPr lang="en-US" sz="95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1298448" y="786384"/>
            <a:ext cx="8668512" cy="10973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1298448" y="5029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755648" y="502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8888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15768" y="502920"/>
            <a:ext cx="7251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1C6B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Zerezes · mídia · 01 — 28 abril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298448" y="914400"/>
            <a:ext cx="8668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F8DB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oportunidades &amp; testes · parte 2/2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98448" y="1188720"/>
            <a:ext cx="8668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 apostas para maio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98448" y="1801368"/>
            <a:ext cx="8668512" cy="2670048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08176" y="1874520"/>
            <a:ext cx="914400" cy="2523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[Maio]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77440" y="1892808"/>
            <a:ext cx="10973" cy="248716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3" name="Text 11"/>
          <p:cNvSpPr/>
          <p:nvPr/>
        </p:nvSpPr>
        <p:spPr>
          <a:xfrm>
            <a:off x="2487168" y="1874520"/>
            <a:ext cx="7351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variação de criativo por cluster comportamental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87168" y="2167128"/>
            <a:ext cx="7351776" cy="2167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criar variantes específicas para HPB / LTV / SEED em vez de rodar o mesmo asset em todos. sucesso = CTR diferenciado por cluster.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298448" y="4544568"/>
            <a:ext cx="8668512" cy="2670048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08176" y="4617720"/>
            <a:ext cx="914400" cy="2523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[Junho]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377440" y="4636008"/>
            <a:ext cx="10973" cy="248716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8" name="Text 16"/>
          <p:cNvSpPr/>
          <p:nvPr/>
        </p:nvSpPr>
        <p:spPr>
          <a:xfrm>
            <a:off x="2487168" y="4617720"/>
            <a:ext cx="7351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cobertura dos clusters Statement e Oversized/Vanguarda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87168" y="4910328"/>
            <a:ext cx="7351776" cy="2167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fechar buracos do heatmap depois que Solar/Sports estiverem rodando. dependente do studio entregar peças.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75620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22376" cy="7562088"/>
          </a:xfrm>
          <a:prstGeom prst="rect">
            <a:avLst/>
          </a:prstGeom>
          <a:solidFill>
            <a:srgbClr val="80AA9D"/>
          </a:solidFill>
          <a:ln/>
        </p:spPr>
      </p:sp>
      <p:sp>
        <p:nvSpPr>
          <p:cNvPr id="4" name="Text 2"/>
          <p:cNvSpPr/>
          <p:nvPr/>
        </p:nvSpPr>
        <p:spPr>
          <a:xfrm rot="16200000">
            <a:off x="-3419856" y="3419856"/>
            <a:ext cx="756208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mkt growth    </a:t>
            </a:r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2026    </a:t>
            </a:r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mídia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444752" y="2103120"/>
            <a:ext cx="8522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80AA9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próximas leituras em maio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444752" y="2606040"/>
            <a:ext cx="852220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;;)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1444752" y="4572000"/>
            <a:ext cx="8522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666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Zerezes · mkt growth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2026-04-30T13:33:28Z</dcterms:created>
  <dcterms:modified xsi:type="dcterms:W3CDTF">2026-04-30T13:33:28Z</dcterms:modified>
</cp:coreProperties>
</file>